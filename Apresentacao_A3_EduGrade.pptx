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182CE"/>
                </a:solidFill>
              </a:defRPr>
            </a:pPr>
            <a:r>
              <a:t>CENTRO UNIVERSITÁRIO UNA — CAMPUS BARREIRO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EduGrade — Calculadora &amp; Gestão Acadêmica</a:t>
            </a:r>
          </a:p>
          <a:p>
            <a:pPr>
              <a:spcAft>
                <a:spcPts val="2400"/>
              </a:spcAft>
              <a:defRPr sz="1800">
                <a:solidFill>
                  <a:srgbClr val="38A169"/>
                </a:solidFill>
              </a:defRPr>
            </a:pPr>
            <a:r>
              <a:t>Projeto Prático A3 | Disciplina: Garantia e Qualidade de Software (GQS)</a:t>
            </a:r>
          </a:p>
          <a:p>
            <a:pPr>
              <a:spcAft>
                <a:spcPts val="1600"/>
              </a:spcAft>
              <a:defRPr sz="1400">
                <a:solidFill>
                  <a:srgbClr val="A0AEC0"/>
                </a:solidFill>
              </a:defRPr>
            </a:pPr>
            <a:r>
              <a:t>Professor Orientador: Daniel Henrique Matos de Paiva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Integrantes da Equipe:</a:t>
            </a:r>
            <a:br/>
            <a:r>
              <a:t>• Lucas Henrique Miranda (RA: 325131396) — Product Owner &amp; Requisitos</a:t>
            </a:r>
            <a:br/>
            <a:r>
              <a:t>• Caio Duraes (RA: 325132875) — Desenvolvedor Backend &amp; Arquitetura</a:t>
            </a:r>
            <a:br/>
            <a:r>
              <a:t>• Gabriel Ferreira (RA: 325140970) — DevOps &amp; Gestão GitFlow</a:t>
            </a:r>
            <a:br/>
            <a:r>
              <a:t>• Fernando Almeida (RA: 326132695) — Engenheiro de Qualidade &amp; TDD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182CE"/>
                </a:solidFill>
              </a:defRPr>
            </a:pPr>
            <a:r>
              <a:t>GARANTIA E QUALIDADE DE SOFTWARE (GQS)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Problema Real &amp; Vínculo com ODS 4 (ONU)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8A169"/>
                </a:solidFill>
              </a:defRPr>
            </a:pPr>
            <a:r>
              <a:t>O Desafio do Estudante Universitário: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Sistemas de notas complexos com pesos variados (A1, A2, A3) geram falta de visibilidade do desempenho.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Estudantes descobrem situação de risco apenas no final do semestre, impossibilitando a recuperação a tempo.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Consequências graves: ansiedade acadêmica, reprovações desnecessárias e aumento da taxa de evasão.</a:t>
            </a:r>
          </a:p>
          <a:p>
            <a:br/>
            <a:pPr>
              <a:spcAft>
                <a:spcPts val="800"/>
              </a:spcAft>
              <a:defRPr sz="1800" b="1">
                <a:solidFill>
                  <a:srgbClr val="3182CE"/>
                </a:solidFill>
              </a:defRPr>
            </a:pPr>
            <a:r>
              <a:t>Alinhamento com a ODS 4 (Educação de Qualidade):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Meta 4.4: Desenvolvimento de competências técnicas e autonomia no planejamento acadêmico.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Incentivo à Permanência: Prevenção da evasão universitária mediante feedback preventivo e cálculo preditivo.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182CE"/>
                </a:solidFill>
              </a:defRPr>
            </a:pPr>
            <a:r>
              <a:t>GARANTIA E QUALIDADE DE SOFTWARE (GQS)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A Solução EduGrade — Funcionalidades &amp; Arquitetura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A169"/>
                </a:solidFill>
              </a:defRPr>
            </a:pPr>
            <a:r>
              <a:t>• Cálculo Ponderado &amp; Personalizado: </a:t>
            </a:r>
            <a:r>
              <a:rPr b="0">
                <a:solidFill>
                  <a:srgbClr val="FFFFFF"/>
                </a:solidFill>
              </a:rPr>
              <a:t>Cálculo preciso considerando pesos institucionais de cada avaliação.</a:t>
            </a:r>
          </a:p>
          <a:p>
            <a:pPr>
              <a:spcAft>
                <a:spcPts val="1000"/>
              </a:spcAft>
              <a:defRPr sz="1500" b="1">
                <a:solidFill>
                  <a:srgbClr val="38A169"/>
                </a:solidFill>
              </a:defRPr>
            </a:pPr>
            <a:r>
              <a:t>• Diagnóstico de Situação Automático: </a:t>
            </a:r>
            <a:r>
              <a:rPr b="0">
                <a:solidFill>
                  <a:srgbClr val="FFFFFF"/>
                </a:solidFill>
              </a:rPr>
              <a:t>Classificação imediata em Aprovado, Recuperação ou Reprovado.</a:t>
            </a:r>
          </a:p>
          <a:p>
            <a:pPr>
              <a:spcAft>
                <a:spcPts val="1000"/>
              </a:spcAft>
              <a:defRPr sz="1500" b="1">
                <a:solidFill>
                  <a:srgbClr val="38A169"/>
                </a:solidFill>
              </a:defRPr>
            </a:pPr>
            <a:r>
              <a:t>• Cálculo Preditivo para Exame Final: </a:t>
            </a:r>
            <a:r>
              <a:rPr b="0">
                <a:solidFill>
                  <a:srgbClr val="FFFFFF"/>
                </a:solidFill>
              </a:rPr>
              <a:t>Determina a nota mínima decimal necessária para aprovação na prova final.</a:t>
            </a:r>
          </a:p>
          <a:p>
            <a:pPr>
              <a:spcAft>
                <a:spcPts val="1000"/>
              </a:spcAft>
              <a:defRPr sz="1500" b="1">
                <a:solidFill>
                  <a:srgbClr val="38A169"/>
                </a:solidFill>
              </a:defRPr>
            </a:pPr>
            <a:r>
              <a:t>• Persistência em JSON: </a:t>
            </a:r>
            <a:r>
              <a:rPr b="0">
                <a:solidFill>
                  <a:srgbClr val="FFFFFF"/>
                </a:solidFill>
              </a:rPr>
              <a:t>Armazenamento confiável do histórico de estudantes e disciplinas.</a:t>
            </a:r>
          </a:p>
          <a:p>
            <a:pPr>
              <a:spcAft>
                <a:spcPts val="1000"/>
              </a:spcAft>
              <a:defRPr sz="1500" b="1">
                <a:solidFill>
                  <a:srgbClr val="38A169"/>
                </a:solidFill>
              </a:defRPr>
            </a:pPr>
            <a:r>
              <a:t>• Arquitetura Modular Clean Code: </a:t>
            </a:r>
            <a:r>
              <a:rPr b="0">
                <a:solidFill>
                  <a:srgbClr val="FFFFFF"/>
                </a:solidFill>
              </a:rPr>
              <a:t>Separação clara de responsabilidades em src/calculator.py, src/manager.py e src/exceptions.py.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182CE"/>
                </a:solidFill>
              </a:defRPr>
            </a:pPr>
            <a:r>
              <a:t>GARANTIA E QUALIDADE DE SOFTWARE (GQS)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Gestão de Configuração &amp; GitFlow no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182CE"/>
                </a:solidFill>
              </a:defRPr>
            </a:pPr>
            <a:r>
              <a:t>• Estrutura de Branches GitFlow: </a:t>
            </a:r>
            <a:r>
              <a:rPr b="0">
                <a:solidFill>
                  <a:srgbClr val="FFFFFF"/>
                </a:solidFill>
              </a:rPr>
              <a:t>Utilização das branches main (produção), develop (desenvolvimento) e branches de feature.</a:t>
            </a:r>
          </a:p>
          <a:p>
            <a:pPr>
              <a:spcAft>
                <a:spcPts val="1200"/>
              </a:spcAft>
              <a:defRPr sz="1500" b="1">
                <a:solidFill>
                  <a:srgbClr val="3182CE"/>
                </a:solidFill>
              </a:defRPr>
            </a:pPr>
            <a:r>
              <a:t>• Commits Semânticos: </a:t>
            </a:r>
            <a:r>
              <a:rPr b="0">
                <a:solidFill>
                  <a:srgbClr val="FFFFFF"/>
                </a:solidFill>
              </a:rPr>
              <a:t>Histórico limpo e rastreável utilizando os prefixos convencionais feat:, fix:, test:, docs:.</a:t>
            </a:r>
          </a:p>
          <a:p>
            <a:pPr>
              <a:spcAft>
                <a:spcPts val="1200"/>
              </a:spcAft>
              <a:defRPr sz="1500" b="1">
                <a:solidFill>
                  <a:srgbClr val="3182CE"/>
                </a:solidFill>
              </a:defRPr>
            </a:pPr>
            <a:r>
              <a:t>• Colaboração em Equipe: </a:t>
            </a:r>
            <a:r>
              <a:rPr b="0">
                <a:solidFill>
                  <a:srgbClr val="FFFFFF"/>
                </a:solidFill>
              </a:rPr>
              <a:t>Divisão de tarefas e integração contínua via GitHub entre os 4 integrantes.</a:t>
            </a:r>
          </a:p>
          <a:p>
            <a:pPr>
              <a:spcAft>
                <a:spcPts val="1200"/>
              </a:spcAft>
              <a:defRPr sz="1500" b="1">
                <a:solidFill>
                  <a:srgbClr val="3182CE"/>
                </a:solidFill>
              </a:defRPr>
            </a:pPr>
            <a:r>
              <a:t>• Repositório Oficial: </a:t>
            </a:r>
            <a:r>
              <a:rPr b="0">
                <a:solidFill>
                  <a:srgbClr val="FFFFFF"/>
                </a:solidFill>
              </a:rPr>
              <a:t>https://github.com/vivoeasy100/calculadora_de_notas_academicas-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182CE"/>
                </a:solidFill>
              </a:defRPr>
            </a:pPr>
            <a:r>
              <a:t>GARANTIA E QUALIDADE DE SOFTWARE (GQS)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Garantia da Qualidade, TDD e Automação 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8A169"/>
                </a:solidFill>
              </a:defRPr>
            </a:pPr>
            <a:r>
              <a:t>• Desenvolvimento Guiado por Testes (TDD): </a:t>
            </a:r>
            <a:r>
              <a:rPr b="0">
                <a:solidFill>
                  <a:srgbClr val="FFFFFF"/>
                </a:solidFill>
              </a:rPr>
              <a:t>Criação prévia de suíte de testes com unittest cobrindo 100% dos cenários de cálculo.</a:t>
            </a:r>
          </a:p>
          <a:p>
            <a:pPr>
              <a:spcAft>
                <a:spcPts val="1200"/>
              </a:spcAft>
              <a:defRPr sz="1500" b="1">
                <a:solidFill>
                  <a:srgbClr val="38A169"/>
                </a:solidFill>
              </a:defRPr>
            </a:pPr>
            <a:r>
              <a:t>• Suíte de Testes Automatizados: </a:t>
            </a:r>
            <a:r>
              <a:rPr b="0">
                <a:solidFill>
                  <a:srgbClr val="FFFFFF"/>
                </a:solidFill>
              </a:rPr>
              <a:t>10 testes executados em milissegundos validando casos limite, exceções e entradas inválidas.</a:t>
            </a:r>
          </a:p>
          <a:p>
            <a:pPr>
              <a:spcAft>
                <a:spcPts val="1200"/>
              </a:spcAft>
              <a:defRPr sz="1500" b="1">
                <a:solidFill>
                  <a:srgbClr val="38A169"/>
                </a:solidFill>
              </a:defRPr>
            </a:pPr>
            <a:r>
              <a:t>• Tratamento de Exceções Personalizado: </a:t>
            </a:r>
            <a:r>
              <a:rPr b="0">
                <a:solidFill>
                  <a:srgbClr val="FFFFFF"/>
                </a:solidFill>
              </a:rPr>
              <a:t>Classes AcademicError, InvalidGradeError e InvalidWeightError impedem falhas inesperadas.</a:t>
            </a:r>
          </a:p>
          <a:p>
            <a:pPr>
              <a:spcAft>
                <a:spcPts val="1200"/>
              </a:spcAft>
              <a:defRPr sz="1500" b="1">
                <a:solidFill>
                  <a:srgbClr val="38A169"/>
                </a:solidFill>
              </a:defRPr>
            </a:pPr>
            <a:r>
              <a:t>• Pipeline de CI/CD (GitHub Actions): </a:t>
            </a:r>
            <a:r>
              <a:rPr b="0">
                <a:solidFill>
                  <a:srgbClr val="FFFFFF"/>
                </a:solidFill>
              </a:rPr>
              <a:t>Execução automática de testes a cada push e pull request via .github/workflows/ci.yml.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182CE"/>
                </a:solidFill>
              </a:defRPr>
            </a:pPr>
            <a:r>
              <a:t>GARANTIA E QUALIDADE DE SOFTWARE (GQS)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Conclusão &amp; Checklist das Entregas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182CE"/>
                </a:solidFill>
              </a:defRPr>
            </a:pPr>
            <a:r>
              <a:t>✔ Relatório Técnico Word (.docx): </a:t>
            </a:r>
            <a:r>
              <a:rPr b="0">
                <a:solidFill>
                  <a:srgbClr val="FFFFFF"/>
                </a:solidFill>
              </a:rPr>
              <a:t>Pronto e formatado com todas as seções e fundamentação teórica.</a:t>
            </a:r>
          </a:p>
          <a:p>
            <a:pPr>
              <a:spcAft>
                <a:spcPts val="1400"/>
              </a:spcAft>
              <a:defRPr sz="1600" b="1">
                <a:solidFill>
                  <a:srgbClr val="3182CE"/>
                </a:solidFill>
              </a:defRPr>
            </a:pPr>
            <a:r>
              <a:t>✔ Código Fonte &amp; GitHub Versionado: </a:t>
            </a:r>
            <a:r>
              <a:rPr b="0">
                <a:solidFill>
                  <a:srgbClr val="FFFFFF"/>
                </a:solidFill>
              </a:rPr>
              <a:t>Código limpo, estruturado em GitFlow e com CI via GitHub Actions.</a:t>
            </a:r>
          </a:p>
          <a:p>
            <a:pPr>
              <a:spcAft>
                <a:spcPts val="1400"/>
              </a:spcAft>
              <a:defRPr sz="1600" b="1">
                <a:solidFill>
                  <a:srgbClr val="3182CE"/>
                </a:solidFill>
              </a:defRPr>
            </a:pPr>
            <a:r>
              <a:t>✔ Apresentação em Slides (.pptx): </a:t>
            </a:r>
            <a:r>
              <a:rPr b="0">
                <a:solidFill>
                  <a:srgbClr val="FFFFFF"/>
                </a:solidFill>
              </a:rPr>
              <a:t>Slides estruturados para a apresentação do grupo.</a:t>
            </a:r>
          </a:p>
          <a:p>
            <a:pPr>
              <a:spcAft>
                <a:spcPts val="1400"/>
              </a:spcAft>
              <a:defRPr sz="1600" b="1">
                <a:solidFill>
                  <a:srgbClr val="3182CE"/>
                </a:solidFill>
              </a:defRPr>
            </a:pPr>
            <a:r>
              <a:t>✔ Vídeo Pitch de 5 Minutos: </a:t>
            </a:r>
            <a:r>
              <a:rPr b="0">
                <a:solidFill>
                  <a:srgbClr val="FFFFFF"/>
                </a:solidFill>
              </a:rPr>
              <a:t>Roteiro gravado e publicado no YouTube/Drive segundo a divisão de tempo.</a:t>
            </a:r>
          </a:p>
          <a:p>
            <a:br/>
            <a:pPr algn="ctr">
              <a:defRPr sz="2000" b="1">
                <a:solidFill>
                  <a:srgbClr val="38A169"/>
                </a:solidFill>
              </a:defRPr>
            </a:pPr>
            <a:r>
              <a:t>Obrigado! Estamos abertos a dúvidas e considerações.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